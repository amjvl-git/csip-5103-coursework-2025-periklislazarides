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0" d="100"/>
          <a:sy n="100" d="100"/>
        </p:scale>
        <p:origin x="96"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01C1A2-4952-468E-B997-ECBC28FAA3AC}"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1017015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01C1A2-4952-468E-B997-ECBC28FAA3AC}"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1525018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01C1A2-4952-468E-B997-ECBC28FAA3AC}"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1111564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01C1A2-4952-468E-B997-ECBC28FAA3AC}"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3281196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01C1A2-4952-468E-B997-ECBC28FAA3AC}" type="datetimeFigureOut">
              <a:rPr lang="en-GB" smtClean="0"/>
              <a:t>04/11/2025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770268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01C1A2-4952-468E-B997-ECBC28FAA3AC}" type="datetimeFigureOut">
              <a:rPr lang="en-GB" smtClean="0"/>
              <a:t>04/11/2025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567473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01C1A2-4952-468E-B997-ECBC28FAA3AC}" type="datetimeFigureOut">
              <a:rPr lang="en-GB" smtClean="0"/>
              <a:t>04/11/2025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1987405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01C1A2-4952-468E-B997-ECBC28FAA3AC}"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439915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01C1A2-4952-468E-B997-ECBC28FAA3AC}"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1569593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01C1A2-4952-468E-B997-ECBC28FAA3AC}"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1580368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01C1A2-4952-468E-B997-ECBC28FAA3AC}"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4039102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01C1A2-4952-468E-B997-ECBC28FAA3AC}"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5B8E7D-8B34-4BE8-99BB-4B4D62AEEA32}" type="slidenum">
              <a:rPr lang="en-GB" smtClean="0"/>
              <a:t>‹#›</a:t>
            </a:fld>
            <a:endParaRPr lang="en-GB"/>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82718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01C1A2-4952-468E-B997-ECBC28FAA3AC}"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3985384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801C1A2-4952-468E-B997-ECBC28FAA3AC}" type="datetimeFigureOut">
              <a:rPr lang="en-GB" smtClean="0"/>
              <a:t>04/11/2025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7421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801C1A2-4952-468E-B997-ECBC28FAA3AC}" type="datetimeFigureOut">
              <a:rPr lang="en-GB" smtClean="0"/>
              <a:t>04/11/2025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7271726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01C1A2-4952-468E-B997-ECBC28FAA3AC}"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1897855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01C1A2-4952-468E-B997-ECBC28FAA3AC}"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5B8E7D-8B34-4BE8-99BB-4B4D62AEEA32}" type="slidenum">
              <a:rPr lang="en-GB" smtClean="0"/>
              <a:t>‹#›</a:t>
            </a:fld>
            <a:endParaRPr lang="en-GB"/>
          </a:p>
        </p:txBody>
      </p:sp>
    </p:spTree>
    <p:extLst>
      <p:ext uri="{BB962C8B-B14F-4D97-AF65-F5344CB8AC3E}">
        <p14:creationId xmlns:p14="http://schemas.microsoft.com/office/powerpoint/2010/main" val="2779069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801C1A2-4952-468E-B997-ECBC28FAA3AC}" type="datetimeFigureOut">
              <a:rPr lang="en-GB" smtClean="0"/>
              <a:t>04/11/2025</a:t>
            </a:fld>
            <a:endParaRPr lang="en-GB"/>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A5B8E7D-8B34-4BE8-99BB-4B4D62AEEA32}" type="slidenum">
              <a:rPr lang="en-GB" smtClean="0"/>
              <a:t>‹#›</a:t>
            </a:fld>
            <a:endParaRPr lang="en-GB"/>
          </a:p>
        </p:txBody>
      </p:sp>
    </p:spTree>
    <p:extLst>
      <p:ext uri="{BB962C8B-B14F-4D97-AF65-F5344CB8AC3E}">
        <p14:creationId xmlns:p14="http://schemas.microsoft.com/office/powerpoint/2010/main" val="10672377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D550A-1578-26E3-B82A-1A14A79357D6}"/>
              </a:ext>
            </a:extLst>
          </p:cNvPr>
          <p:cNvSpPr>
            <a:spLocks noGrp="1"/>
          </p:cNvSpPr>
          <p:nvPr>
            <p:ph type="ctrTitle"/>
          </p:nvPr>
        </p:nvSpPr>
        <p:spPr/>
        <p:txBody>
          <a:bodyPr/>
          <a:lstStyle/>
          <a:p>
            <a:r>
              <a:rPr lang="en-GB" dirty="0"/>
              <a:t>Neural Systems</a:t>
            </a:r>
          </a:p>
        </p:txBody>
      </p:sp>
      <p:sp>
        <p:nvSpPr>
          <p:cNvPr id="3" name="Subtitle 2">
            <a:extLst>
              <a:ext uri="{FF2B5EF4-FFF2-40B4-BE49-F238E27FC236}">
                <a16:creationId xmlns:a16="http://schemas.microsoft.com/office/drawing/2014/main" id="{B77E73B1-9B46-7144-17FC-78F543142D75}"/>
              </a:ext>
            </a:extLst>
          </p:cNvPr>
          <p:cNvSpPr>
            <a:spLocks noGrp="1"/>
          </p:cNvSpPr>
          <p:nvPr>
            <p:ph type="subTitle" idx="1"/>
          </p:nvPr>
        </p:nvSpPr>
        <p:spPr/>
        <p:txBody>
          <a:bodyPr/>
          <a:lstStyle/>
          <a:p>
            <a:r>
              <a:rPr lang="en-GB" dirty="0"/>
              <a:t>P2669504 Periklis Lazarides</a:t>
            </a:r>
          </a:p>
        </p:txBody>
      </p:sp>
    </p:spTree>
    <p:extLst>
      <p:ext uri="{BB962C8B-B14F-4D97-AF65-F5344CB8AC3E}">
        <p14:creationId xmlns:p14="http://schemas.microsoft.com/office/powerpoint/2010/main" val="3707122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FE5AC-A600-E089-5EC9-3CE3BA76AEE0}"/>
              </a:ext>
            </a:extLst>
          </p:cNvPr>
          <p:cNvSpPr>
            <a:spLocks noGrp="1"/>
          </p:cNvSpPr>
          <p:nvPr>
            <p:ph type="title"/>
          </p:nvPr>
        </p:nvSpPr>
        <p:spPr>
          <a:xfrm>
            <a:off x="913795" y="609600"/>
            <a:ext cx="5978072" cy="970450"/>
          </a:xfrm>
        </p:spPr>
        <p:txBody>
          <a:bodyPr>
            <a:normAutofit/>
          </a:bodyPr>
          <a:lstStyle/>
          <a:p>
            <a:r>
              <a:rPr lang="en-GB" dirty="0"/>
              <a:t>Main Goals of the project</a:t>
            </a:r>
          </a:p>
        </p:txBody>
      </p:sp>
      <p:sp>
        <p:nvSpPr>
          <p:cNvPr id="14" name="Content Placeholder 2">
            <a:extLst>
              <a:ext uri="{FF2B5EF4-FFF2-40B4-BE49-F238E27FC236}">
                <a16:creationId xmlns:a16="http://schemas.microsoft.com/office/drawing/2014/main" id="{9290C0A5-3E53-DD45-C3D7-7F27775F2400}"/>
              </a:ext>
            </a:extLst>
          </p:cNvPr>
          <p:cNvSpPr>
            <a:spLocks noGrp="1"/>
          </p:cNvSpPr>
          <p:nvPr>
            <p:ph idx="1"/>
          </p:nvPr>
        </p:nvSpPr>
        <p:spPr>
          <a:xfrm>
            <a:off x="913795" y="1828801"/>
            <a:ext cx="5978072" cy="3866048"/>
          </a:xfrm>
        </p:spPr>
        <p:txBody>
          <a:bodyPr anchor="ctr">
            <a:normAutofit/>
          </a:bodyPr>
          <a:lstStyle/>
          <a:p>
            <a:pPr>
              <a:buClr>
                <a:srgbClr val="F07351"/>
              </a:buClr>
            </a:pPr>
            <a:r>
              <a:rPr lang="en-GB" dirty="0"/>
              <a:t>Compare standard ANN and CNN implementations with the </a:t>
            </a:r>
            <a:r>
              <a:rPr lang="en-GB" dirty="0" err="1"/>
              <a:t>mnist</a:t>
            </a:r>
            <a:r>
              <a:rPr lang="en-GB" dirty="0"/>
              <a:t>-fashion dataset.</a:t>
            </a:r>
          </a:p>
          <a:p>
            <a:pPr>
              <a:buClr>
                <a:srgbClr val="F07351"/>
              </a:buClr>
            </a:pPr>
            <a:r>
              <a:rPr lang="en-GB" dirty="0"/>
              <a:t>Implement improved versions of ANN and CNN and compare their performance with the standard implementation.</a:t>
            </a:r>
          </a:p>
          <a:p>
            <a:pPr>
              <a:buClr>
                <a:srgbClr val="F07351"/>
              </a:buClr>
            </a:pPr>
            <a:r>
              <a:rPr lang="en-GB" dirty="0"/>
              <a:t>Successfully make, train and validate each model to achieve the highest accuracy.</a:t>
            </a:r>
          </a:p>
          <a:p>
            <a:pPr>
              <a:buClr>
                <a:srgbClr val="F07351"/>
              </a:buClr>
            </a:pPr>
            <a:r>
              <a:rPr lang="en-GB" dirty="0"/>
              <a:t>Test and use different methods for structuring and training the models</a:t>
            </a:r>
          </a:p>
        </p:txBody>
      </p:sp>
      <p:pic>
        <p:nvPicPr>
          <p:cNvPr id="5" name="Picture 4" descr="Illustration of people on a blockchain">
            <a:extLst>
              <a:ext uri="{FF2B5EF4-FFF2-40B4-BE49-F238E27FC236}">
                <a16:creationId xmlns:a16="http://schemas.microsoft.com/office/drawing/2014/main" id="{E17ABC15-B9DB-E3AA-179E-8CC9E435E0F8}"/>
              </a:ext>
            </a:extLst>
          </p:cNvPr>
          <p:cNvPicPr>
            <a:picLocks noChangeAspect="1"/>
          </p:cNvPicPr>
          <p:nvPr/>
        </p:nvPicPr>
        <p:blipFill>
          <a:blip r:embed="rId3"/>
          <a:srcRect l="26879" r="30791"/>
          <a:stretch>
            <a:fillRect/>
          </a:stretch>
        </p:blipFill>
        <p:spPr>
          <a:xfrm>
            <a:off x="7620351" y="10"/>
            <a:ext cx="4571649" cy="6857990"/>
          </a:xfrm>
          <a:prstGeom prst="rect">
            <a:avLst/>
          </a:prstGeom>
        </p:spPr>
      </p:pic>
      <p:pic>
        <p:nvPicPr>
          <p:cNvPr id="9" name="Picture 8">
            <a:extLst>
              <a:ext uri="{FF2B5EF4-FFF2-40B4-BE49-F238E27FC236}">
                <a16:creationId xmlns:a16="http://schemas.microsoft.com/office/drawing/2014/main" id="{E0BE7827-5B1A-4F37-BF70-19F7C5C6BDE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964" r="2807" b="1446"/>
          <a:stretch/>
        </p:blipFill>
        <p:spPr>
          <a:xfrm>
            <a:off x="7501468" y="1"/>
            <a:ext cx="4690532" cy="6858000"/>
          </a:xfrm>
          <a:prstGeom prst="rect">
            <a:avLst/>
          </a:prstGeom>
        </p:spPr>
      </p:pic>
    </p:spTree>
    <p:extLst>
      <p:ext uri="{BB962C8B-B14F-4D97-AF65-F5344CB8AC3E}">
        <p14:creationId xmlns:p14="http://schemas.microsoft.com/office/powerpoint/2010/main" val="245165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F66D-30EC-7997-7F91-B15FED91F342}"/>
              </a:ext>
            </a:extLst>
          </p:cNvPr>
          <p:cNvSpPr>
            <a:spLocks noGrp="1"/>
          </p:cNvSpPr>
          <p:nvPr>
            <p:ph type="title"/>
          </p:nvPr>
        </p:nvSpPr>
        <p:spPr>
          <a:xfrm>
            <a:off x="913795" y="609600"/>
            <a:ext cx="10353762" cy="970450"/>
          </a:xfrm>
        </p:spPr>
        <p:txBody>
          <a:bodyPr>
            <a:normAutofit/>
          </a:bodyPr>
          <a:lstStyle/>
          <a:p>
            <a:r>
              <a:rPr lang="en-GB" dirty="0"/>
              <a:t>	Dataset Handling</a:t>
            </a:r>
          </a:p>
        </p:txBody>
      </p:sp>
      <p:sp>
        <p:nvSpPr>
          <p:cNvPr id="3" name="Content Placeholder 2">
            <a:extLst>
              <a:ext uri="{FF2B5EF4-FFF2-40B4-BE49-F238E27FC236}">
                <a16:creationId xmlns:a16="http://schemas.microsoft.com/office/drawing/2014/main" id="{D2A75600-0B59-4F08-7BD9-59DFE56F525E}"/>
              </a:ext>
            </a:extLst>
          </p:cNvPr>
          <p:cNvSpPr>
            <a:spLocks noGrp="1"/>
          </p:cNvSpPr>
          <p:nvPr>
            <p:ph idx="1"/>
          </p:nvPr>
        </p:nvSpPr>
        <p:spPr>
          <a:xfrm>
            <a:off x="913795" y="1732449"/>
            <a:ext cx="5546272" cy="4058751"/>
          </a:xfrm>
        </p:spPr>
        <p:txBody>
          <a:bodyPr anchor="ctr">
            <a:normAutofit/>
          </a:bodyPr>
          <a:lstStyle/>
          <a:p>
            <a:pPr>
              <a:buClr>
                <a:srgbClr val="CDAE0B"/>
              </a:buClr>
            </a:pPr>
            <a:r>
              <a:rPr lang="en-GB" dirty="0"/>
              <a:t>Dataset is loaded from Drive or directly from </a:t>
            </a:r>
            <a:r>
              <a:rPr lang="en-GB" dirty="0" err="1"/>
              <a:t>Keras</a:t>
            </a:r>
            <a:r>
              <a:rPr lang="en-GB" dirty="0"/>
              <a:t> Datasets.</a:t>
            </a:r>
          </a:p>
          <a:p>
            <a:pPr>
              <a:buClr>
                <a:srgbClr val="CDAE0B"/>
              </a:buClr>
            </a:pPr>
            <a:r>
              <a:rPr lang="en-GB" dirty="0" err="1"/>
              <a:t>Mnist</a:t>
            </a:r>
            <a:r>
              <a:rPr lang="en-GB" dirty="0"/>
              <a:t>-Fashion dataset includes 70,000 images (60,000 training and 10,000 testing)</a:t>
            </a:r>
          </a:p>
          <a:p>
            <a:pPr>
              <a:buClr>
                <a:srgbClr val="CDAE0B"/>
              </a:buClr>
            </a:pPr>
            <a:r>
              <a:rPr lang="en-GB" dirty="0"/>
              <a:t>Normalising and reshaping the dataset before training</a:t>
            </a:r>
          </a:p>
          <a:p>
            <a:pPr>
              <a:buClr>
                <a:srgbClr val="CDAE0B"/>
              </a:buClr>
            </a:pPr>
            <a:r>
              <a:rPr lang="en-GB" dirty="0"/>
              <a:t>Applying data augmentation for CNN in the first layer.</a:t>
            </a:r>
          </a:p>
        </p:txBody>
      </p:sp>
      <p:pic>
        <p:nvPicPr>
          <p:cNvPr id="5" name="Picture 4">
            <a:extLst>
              <a:ext uri="{FF2B5EF4-FFF2-40B4-BE49-F238E27FC236}">
                <a16:creationId xmlns:a16="http://schemas.microsoft.com/office/drawing/2014/main" id="{5C7C9B9B-3557-3F5F-3B49-00977740D1A4}"/>
              </a:ext>
            </a:extLst>
          </p:cNvPr>
          <p:cNvPicPr>
            <a:picLocks noChangeAspect="1"/>
          </p:cNvPicPr>
          <p:nvPr/>
        </p:nvPicPr>
        <p:blipFill>
          <a:blip r:embed="rId3"/>
          <a:stretch>
            <a:fillRect/>
          </a:stretch>
        </p:blipFill>
        <p:spPr>
          <a:xfrm>
            <a:off x="6885585" y="1794259"/>
            <a:ext cx="4065464" cy="1101709"/>
          </a:xfrm>
          <a:prstGeom prst="rect">
            <a:avLst/>
          </a:prstGeom>
        </p:spPr>
      </p:pic>
      <p:pic>
        <p:nvPicPr>
          <p:cNvPr id="7" name="Picture 6">
            <a:extLst>
              <a:ext uri="{FF2B5EF4-FFF2-40B4-BE49-F238E27FC236}">
                <a16:creationId xmlns:a16="http://schemas.microsoft.com/office/drawing/2014/main" id="{C5C28DFE-CB3D-F3AB-96E1-8E85F6AB6A6F}"/>
              </a:ext>
            </a:extLst>
          </p:cNvPr>
          <p:cNvPicPr>
            <a:picLocks noChangeAspect="1"/>
          </p:cNvPicPr>
          <p:nvPr/>
        </p:nvPicPr>
        <p:blipFill>
          <a:blip r:embed="rId4"/>
          <a:stretch>
            <a:fillRect/>
          </a:stretch>
        </p:blipFill>
        <p:spPr>
          <a:xfrm>
            <a:off x="6885585" y="4733713"/>
            <a:ext cx="3600951" cy="1324160"/>
          </a:xfrm>
          <a:prstGeom prst="rect">
            <a:avLst/>
          </a:prstGeom>
        </p:spPr>
      </p:pic>
      <p:pic>
        <p:nvPicPr>
          <p:cNvPr id="9" name="Picture 8">
            <a:extLst>
              <a:ext uri="{FF2B5EF4-FFF2-40B4-BE49-F238E27FC236}">
                <a16:creationId xmlns:a16="http://schemas.microsoft.com/office/drawing/2014/main" id="{CDD99D4E-85AA-B84F-D345-51B491B4BDAC}"/>
              </a:ext>
            </a:extLst>
          </p:cNvPr>
          <p:cNvPicPr>
            <a:picLocks noChangeAspect="1"/>
          </p:cNvPicPr>
          <p:nvPr/>
        </p:nvPicPr>
        <p:blipFill>
          <a:blip r:embed="rId5"/>
          <a:stretch>
            <a:fillRect/>
          </a:stretch>
        </p:blipFill>
        <p:spPr>
          <a:xfrm>
            <a:off x="6885585" y="3047971"/>
            <a:ext cx="3581900" cy="1533739"/>
          </a:xfrm>
          <a:prstGeom prst="rect">
            <a:avLst/>
          </a:prstGeom>
        </p:spPr>
      </p:pic>
    </p:spTree>
    <p:extLst>
      <p:ext uri="{BB962C8B-B14F-4D97-AF65-F5344CB8AC3E}">
        <p14:creationId xmlns:p14="http://schemas.microsoft.com/office/powerpoint/2010/main" val="2322812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7B0E-6372-3B9A-3411-7C116350C764}"/>
              </a:ext>
            </a:extLst>
          </p:cNvPr>
          <p:cNvSpPr>
            <a:spLocks noGrp="1"/>
          </p:cNvSpPr>
          <p:nvPr>
            <p:ph type="title"/>
          </p:nvPr>
        </p:nvSpPr>
        <p:spPr>
          <a:xfrm>
            <a:off x="913796" y="609600"/>
            <a:ext cx="5168052" cy="1117600"/>
          </a:xfrm>
        </p:spPr>
        <p:txBody>
          <a:bodyPr>
            <a:normAutofit fontScale="90000"/>
          </a:bodyPr>
          <a:lstStyle/>
          <a:p>
            <a:r>
              <a:rPr lang="en-GB" dirty="0"/>
              <a:t>Artificial Neural Network (ANN)</a:t>
            </a:r>
          </a:p>
        </p:txBody>
      </p:sp>
      <p:sp>
        <p:nvSpPr>
          <p:cNvPr id="3" name="Content Placeholder 2">
            <a:extLst>
              <a:ext uri="{FF2B5EF4-FFF2-40B4-BE49-F238E27FC236}">
                <a16:creationId xmlns:a16="http://schemas.microsoft.com/office/drawing/2014/main" id="{940996B7-0EAF-72CB-89A4-FDD56C7E9F75}"/>
              </a:ext>
            </a:extLst>
          </p:cNvPr>
          <p:cNvSpPr>
            <a:spLocks noGrp="1"/>
          </p:cNvSpPr>
          <p:nvPr>
            <p:ph idx="1"/>
          </p:nvPr>
        </p:nvSpPr>
        <p:spPr>
          <a:xfrm>
            <a:off x="913796" y="1828800"/>
            <a:ext cx="5168052" cy="3962400"/>
          </a:xfrm>
        </p:spPr>
        <p:txBody>
          <a:bodyPr>
            <a:normAutofit/>
          </a:bodyPr>
          <a:lstStyle/>
          <a:p>
            <a:pPr>
              <a:buClr>
                <a:srgbClr val="FF9C10"/>
              </a:buClr>
            </a:pPr>
            <a:r>
              <a:rPr lang="en-GB" dirty="0"/>
              <a:t>Structure of the basic ANN includes 4 dense layers and 2 dropout layers. Uses Adam optimiser.</a:t>
            </a:r>
          </a:p>
          <a:p>
            <a:pPr>
              <a:buClr>
                <a:srgbClr val="FF9C10"/>
              </a:buClr>
            </a:pPr>
            <a:r>
              <a:rPr lang="en-GB" dirty="0"/>
              <a:t>Improved ANN uses the same layers but with Batch Normalisation, Early Stopping, </a:t>
            </a:r>
            <a:r>
              <a:rPr lang="en-GB" dirty="0" err="1"/>
              <a:t>ReduceLROnPlateau</a:t>
            </a:r>
            <a:r>
              <a:rPr lang="en-GB" dirty="0"/>
              <a:t> and </a:t>
            </a:r>
            <a:r>
              <a:rPr lang="en-GB" dirty="0" err="1"/>
              <a:t>Nadam</a:t>
            </a:r>
            <a:r>
              <a:rPr lang="en-GB" dirty="0"/>
              <a:t> optimiser. Also, hyperparameter tuning was done for the improved model.</a:t>
            </a:r>
          </a:p>
          <a:p>
            <a:pPr>
              <a:buClr>
                <a:srgbClr val="FF9C10"/>
              </a:buClr>
            </a:pPr>
            <a:endParaRPr lang="en-GB" dirty="0"/>
          </a:p>
          <a:p>
            <a:pPr marL="36900" indent="0">
              <a:buClr>
                <a:srgbClr val="FF9C10"/>
              </a:buClr>
              <a:buNone/>
            </a:pPr>
            <a:r>
              <a:rPr lang="en-GB" dirty="0"/>
              <a:t>Result: Improved ANN performs noticeably better than the basic ANN.</a:t>
            </a:r>
          </a:p>
        </p:txBody>
      </p:sp>
      <p:pic>
        <p:nvPicPr>
          <p:cNvPr id="12" name="Picture 11">
            <a:extLst>
              <a:ext uri="{FF2B5EF4-FFF2-40B4-BE49-F238E27FC236}">
                <a16:creationId xmlns:a16="http://schemas.microsoft.com/office/drawing/2014/main" id="{F15A1844-5CB8-438B-B90E-EF2A51CF87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6586695" y="1"/>
            <a:ext cx="5605305" cy="6858000"/>
          </a:xfrm>
          <a:prstGeom prst="rect">
            <a:avLst/>
          </a:prstGeom>
        </p:spPr>
      </p:pic>
      <p:pic>
        <p:nvPicPr>
          <p:cNvPr id="7" name="Picture 6">
            <a:extLst>
              <a:ext uri="{FF2B5EF4-FFF2-40B4-BE49-F238E27FC236}">
                <a16:creationId xmlns:a16="http://schemas.microsoft.com/office/drawing/2014/main" id="{9838FE19-BF7C-2266-6D90-E436F31BE0EC}"/>
              </a:ext>
            </a:extLst>
          </p:cNvPr>
          <p:cNvPicPr>
            <a:picLocks noChangeAspect="1"/>
          </p:cNvPicPr>
          <p:nvPr/>
        </p:nvPicPr>
        <p:blipFill>
          <a:blip r:embed="rId4"/>
          <a:stretch>
            <a:fillRect/>
          </a:stretch>
        </p:blipFill>
        <p:spPr>
          <a:xfrm>
            <a:off x="7264934" y="2387770"/>
            <a:ext cx="3874581" cy="2082462"/>
          </a:xfrm>
          <a:prstGeom prst="rect">
            <a:avLst/>
          </a:prstGeom>
        </p:spPr>
      </p:pic>
      <p:pic>
        <p:nvPicPr>
          <p:cNvPr id="5" name="Picture 4">
            <a:extLst>
              <a:ext uri="{FF2B5EF4-FFF2-40B4-BE49-F238E27FC236}">
                <a16:creationId xmlns:a16="http://schemas.microsoft.com/office/drawing/2014/main" id="{9FAB414F-4C22-0C99-BF7C-6D7B73C41EA4}"/>
              </a:ext>
            </a:extLst>
          </p:cNvPr>
          <p:cNvPicPr>
            <a:picLocks noChangeAspect="1"/>
          </p:cNvPicPr>
          <p:nvPr/>
        </p:nvPicPr>
        <p:blipFill>
          <a:blip r:embed="rId5"/>
          <a:stretch>
            <a:fillRect/>
          </a:stretch>
        </p:blipFill>
        <p:spPr>
          <a:xfrm>
            <a:off x="7264935" y="796437"/>
            <a:ext cx="3874581" cy="1144935"/>
          </a:xfrm>
          <a:prstGeom prst="rect">
            <a:avLst/>
          </a:prstGeom>
        </p:spPr>
      </p:pic>
      <p:pic>
        <p:nvPicPr>
          <p:cNvPr id="9" name="Picture 8">
            <a:extLst>
              <a:ext uri="{FF2B5EF4-FFF2-40B4-BE49-F238E27FC236}">
                <a16:creationId xmlns:a16="http://schemas.microsoft.com/office/drawing/2014/main" id="{AB17CB1E-5A65-F605-FD82-2FCF1425B9B4}"/>
              </a:ext>
            </a:extLst>
          </p:cNvPr>
          <p:cNvPicPr>
            <a:picLocks noChangeAspect="1"/>
          </p:cNvPicPr>
          <p:nvPr/>
        </p:nvPicPr>
        <p:blipFill>
          <a:blip r:embed="rId6"/>
          <a:stretch>
            <a:fillRect/>
          </a:stretch>
        </p:blipFill>
        <p:spPr>
          <a:xfrm>
            <a:off x="6753002" y="5070615"/>
            <a:ext cx="4898443" cy="720585"/>
          </a:xfrm>
          <a:prstGeom prst="rect">
            <a:avLst/>
          </a:prstGeom>
        </p:spPr>
      </p:pic>
    </p:spTree>
    <p:extLst>
      <p:ext uri="{BB962C8B-B14F-4D97-AF65-F5344CB8AC3E}">
        <p14:creationId xmlns:p14="http://schemas.microsoft.com/office/powerpoint/2010/main" val="33949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E08AB-CC01-F7B0-3788-63A27D8FCAD3}"/>
              </a:ext>
            </a:extLst>
          </p:cNvPr>
          <p:cNvSpPr>
            <a:spLocks noGrp="1"/>
          </p:cNvSpPr>
          <p:nvPr>
            <p:ph type="title"/>
          </p:nvPr>
        </p:nvSpPr>
        <p:spPr>
          <a:xfrm>
            <a:off x="913796" y="609600"/>
            <a:ext cx="5168052" cy="1117600"/>
          </a:xfrm>
        </p:spPr>
        <p:txBody>
          <a:bodyPr>
            <a:normAutofit/>
          </a:bodyPr>
          <a:lstStyle/>
          <a:p>
            <a:pPr>
              <a:lnSpc>
                <a:spcPct val="90000"/>
              </a:lnSpc>
            </a:pPr>
            <a:r>
              <a:rPr lang="en-GB" sz="3700" err="1"/>
              <a:t>Convolutionary</a:t>
            </a:r>
            <a:r>
              <a:rPr lang="en-GB" sz="3700"/>
              <a:t> Neural Network (CNN)</a:t>
            </a:r>
          </a:p>
        </p:txBody>
      </p:sp>
      <p:sp>
        <p:nvSpPr>
          <p:cNvPr id="3" name="Content Placeholder 2">
            <a:extLst>
              <a:ext uri="{FF2B5EF4-FFF2-40B4-BE49-F238E27FC236}">
                <a16:creationId xmlns:a16="http://schemas.microsoft.com/office/drawing/2014/main" id="{9F70DCD4-ED9B-6A25-5784-918CD2212BE8}"/>
              </a:ext>
            </a:extLst>
          </p:cNvPr>
          <p:cNvSpPr>
            <a:spLocks noGrp="1"/>
          </p:cNvSpPr>
          <p:nvPr>
            <p:ph idx="1"/>
          </p:nvPr>
        </p:nvSpPr>
        <p:spPr>
          <a:xfrm>
            <a:off x="913796" y="1828800"/>
            <a:ext cx="5168052" cy="3962400"/>
          </a:xfrm>
        </p:spPr>
        <p:txBody>
          <a:bodyPr>
            <a:normAutofit fontScale="92500" lnSpcReduction="10000"/>
          </a:bodyPr>
          <a:lstStyle/>
          <a:p>
            <a:pPr>
              <a:buClr>
                <a:srgbClr val="FF9C0F"/>
              </a:buClr>
            </a:pPr>
            <a:r>
              <a:rPr lang="en-GB" dirty="0"/>
              <a:t>Structure of the basic CNN includes a data augmentation layer, 2 convolution layers, 2 max pooling layers, 2 dense layers and 1 dropout layer. Uses Adam optimiser.</a:t>
            </a:r>
          </a:p>
          <a:p>
            <a:pPr>
              <a:buClr>
                <a:srgbClr val="FF9C0F"/>
              </a:buClr>
            </a:pPr>
            <a:r>
              <a:rPr lang="en-GB" dirty="0"/>
              <a:t>Improved CNN uses 4 convolution layers and added Batch Normalisation. Hyperparameter tuning, Early Stopping and </a:t>
            </a:r>
            <a:r>
              <a:rPr lang="en-GB" dirty="0" err="1"/>
              <a:t>ReduceLPROnPlateau</a:t>
            </a:r>
            <a:r>
              <a:rPr lang="en-GB" dirty="0"/>
              <a:t> were also implemented. Still using Adam optimiser.</a:t>
            </a:r>
          </a:p>
          <a:p>
            <a:pPr>
              <a:buClr>
                <a:srgbClr val="FF9C0F"/>
              </a:buClr>
            </a:pPr>
            <a:endParaRPr lang="en-GB" dirty="0"/>
          </a:p>
          <a:p>
            <a:pPr marL="36900" indent="0">
              <a:buClr>
                <a:srgbClr val="FF9C0F"/>
              </a:buClr>
              <a:buNone/>
            </a:pPr>
            <a:r>
              <a:rPr lang="en-GB" dirty="0"/>
              <a:t>Result is that the improved CNN outperforms the basic CNN as well as both ANN and improved ANN models.</a:t>
            </a:r>
          </a:p>
          <a:p>
            <a:pPr>
              <a:buClr>
                <a:srgbClr val="FF9C0F"/>
              </a:buClr>
            </a:pPr>
            <a:endParaRPr lang="en-GB" dirty="0"/>
          </a:p>
        </p:txBody>
      </p:sp>
      <p:pic>
        <p:nvPicPr>
          <p:cNvPr id="12" name="Picture 11">
            <a:extLst>
              <a:ext uri="{FF2B5EF4-FFF2-40B4-BE49-F238E27FC236}">
                <a16:creationId xmlns:a16="http://schemas.microsoft.com/office/drawing/2014/main" id="{F15A1844-5CB8-438B-B90E-EF2A51CF87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6586695" y="1"/>
            <a:ext cx="5605305" cy="6858000"/>
          </a:xfrm>
          <a:prstGeom prst="rect">
            <a:avLst/>
          </a:prstGeom>
        </p:spPr>
      </p:pic>
      <p:pic>
        <p:nvPicPr>
          <p:cNvPr id="7" name="Picture 6">
            <a:extLst>
              <a:ext uri="{FF2B5EF4-FFF2-40B4-BE49-F238E27FC236}">
                <a16:creationId xmlns:a16="http://schemas.microsoft.com/office/drawing/2014/main" id="{6D140469-233E-4251-8DCB-A87D1CC63691}"/>
              </a:ext>
            </a:extLst>
          </p:cNvPr>
          <p:cNvPicPr>
            <a:picLocks noChangeAspect="1"/>
          </p:cNvPicPr>
          <p:nvPr/>
        </p:nvPicPr>
        <p:blipFill>
          <a:blip r:embed="rId4"/>
          <a:stretch>
            <a:fillRect/>
          </a:stretch>
        </p:blipFill>
        <p:spPr>
          <a:xfrm>
            <a:off x="7493748" y="609601"/>
            <a:ext cx="3416957" cy="2507158"/>
          </a:xfrm>
          <a:prstGeom prst="rect">
            <a:avLst/>
          </a:prstGeom>
        </p:spPr>
      </p:pic>
      <p:pic>
        <p:nvPicPr>
          <p:cNvPr id="5" name="Picture 4">
            <a:extLst>
              <a:ext uri="{FF2B5EF4-FFF2-40B4-BE49-F238E27FC236}">
                <a16:creationId xmlns:a16="http://schemas.microsoft.com/office/drawing/2014/main" id="{7D7050C1-B826-6A0B-102D-CA9F98CBF482}"/>
              </a:ext>
            </a:extLst>
          </p:cNvPr>
          <p:cNvPicPr>
            <a:picLocks noChangeAspect="1"/>
          </p:cNvPicPr>
          <p:nvPr/>
        </p:nvPicPr>
        <p:blipFill>
          <a:blip r:embed="rId5"/>
          <a:stretch>
            <a:fillRect/>
          </a:stretch>
        </p:blipFill>
        <p:spPr>
          <a:xfrm>
            <a:off x="7264936" y="3647801"/>
            <a:ext cx="3874581" cy="1766808"/>
          </a:xfrm>
          <a:prstGeom prst="rect">
            <a:avLst/>
          </a:prstGeom>
        </p:spPr>
      </p:pic>
    </p:spTree>
    <p:extLst>
      <p:ext uri="{BB962C8B-B14F-4D97-AF65-F5344CB8AC3E}">
        <p14:creationId xmlns:p14="http://schemas.microsoft.com/office/powerpoint/2010/main" val="3106210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84B3F-ACED-5A98-5B3F-E757379C22F6}"/>
              </a:ext>
            </a:extLst>
          </p:cNvPr>
          <p:cNvSpPr>
            <a:spLocks noGrp="1"/>
          </p:cNvSpPr>
          <p:nvPr>
            <p:ph type="title"/>
          </p:nvPr>
        </p:nvSpPr>
        <p:spPr>
          <a:xfrm>
            <a:off x="913795" y="28352"/>
            <a:ext cx="10353762" cy="970450"/>
          </a:xfrm>
        </p:spPr>
        <p:txBody>
          <a:bodyPr/>
          <a:lstStyle/>
          <a:p>
            <a:r>
              <a:rPr lang="en-GB" dirty="0"/>
              <a:t>Results</a:t>
            </a:r>
          </a:p>
        </p:txBody>
      </p:sp>
      <p:pic>
        <p:nvPicPr>
          <p:cNvPr id="5" name="Content Placeholder 4">
            <a:extLst>
              <a:ext uri="{FF2B5EF4-FFF2-40B4-BE49-F238E27FC236}">
                <a16:creationId xmlns:a16="http://schemas.microsoft.com/office/drawing/2014/main" id="{150B978C-EA60-2676-2038-B7900D1DDCB4}"/>
              </a:ext>
            </a:extLst>
          </p:cNvPr>
          <p:cNvPicPr>
            <a:picLocks noGrp="1" noChangeAspect="1"/>
          </p:cNvPicPr>
          <p:nvPr>
            <p:ph idx="1"/>
          </p:nvPr>
        </p:nvPicPr>
        <p:blipFill>
          <a:blip r:embed="rId2"/>
          <a:stretch>
            <a:fillRect/>
          </a:stretch>
        </p:blipFill>
        <p:spPr>
          <a:xfrm>
            <a:off x="9383092" y="2578529"/>
            <a:ext cx="2701553" cy="1120699"/>
          </a:xfrm>
        </p:spPr>
      </p:pic>
      <p:pic>
        <p:nvPicPr>
          <p:cNvPr id="7" name="Picture 6">
            <a:extLst>
              <a:ext uri="{FF2B5EF4-FFF2-40B4-BE49-F238E27FC236}">
                <a16:creationId xmlns:a16="http://schemas.microsoft.com/office/drawing/2014/main" id="{2A2DDDCA-DD8C-E3B2-1254-61C24E232706}"/>
              </a:ext>
            </a:extLst>
          </p:cNvPr>
          <p:cNvPicPr>
            <a:picLocks noChangeAspect="1"/>
          </p:cNvPicPr>
          <p:nvPr/>
        </p:nvPicPr>
        <p:blipFill>
          <a:blip r:embed="rId3"/>
          <a:stretch>
            <a:fillRect/>
          </a:stretch>
        </p:blipFill>
        <p:spPr>
          <a:xfrm>
            <a:off x="4834179" y="914118"/>
            <a:ext cx="4329603" cy="2191237"/>
          </a:xfrm>
          <a:prstGeom prst="rect">
            <a:avLst/>
          </a:prstGeom>
        </p:spPr>
      </p:pic>
      <p:pic>
        <p:nvPicPr>
          <p:cNvPr id="9" name="Picture 8">
            <a:extLst>
              <a:ext uri="{FF2B5EF4-FFF2-40B4-BE49-F238E27FC236}">
                <a16:creationId xmlns:a16="http://schemas.microsoft.com/office/drawing/2014/main" id="{24DA1AD8-6A07-9348-1415-70CB17EF99EE}"/>
              </a:ext>
            </a:extLst>
          </p:cNvPr>
          <p:cNvPicPr>
            <a:picLocks noChangeAspect="1"/>
          </p:cNvPicPr>
          <p:nvPr/>
        </p:nvPicPr>
        <p:blipFill>
          <a:blip r:embed="rId4"/>
          <a:stretch>
            <a:fillRect/>
          </a:stretch>
        </p:blipFill>
        <p:spPr>
          <a:xfrm>
            <a:off x="4834179" y="3189679"/>
            <a:ext cx="4329603" cy="2058713"/>
          </a:xfrm>
          <a:prstGeom prst="rect">
            <a:avLst/>
          </a:prstGeom>
        </p:spPr>
      </p:pic>
      <p:pic>
        <p:nvPicPr>
          <p:cNvPr id="11" name="Picture 10">
            <a:extLst>
              <a:ext uri="{FF2B5EF4-FFF2-40B4-BE49-F238E27FC236}">
                <a16:creationId xmlns:a16="http://schemas.microsoft.com/office/drawing/2014/main" id="{74BDB7E3-71CA-05AF-3673-244E30CBE2D6}"/>
              </a:ext>
            </a:extLst>
          </p:cNvPr>
          <p:cNvPicPr>
            <a:picLocks noChangeAspect="1"/>
          </p:cNvPicPr>
          <p:nvPr/>
        </p:nvPicPr>
        <p:blipFill>
          <a:blip r:embed="rId5"/>
          <a:stretch>
            <a:fillRect/>
          </a:stretch>
        </p:blipFill>
        <p:spPr>
          <a:xfrm>
            <a:off x="285266" y="902574"/>
            <a:ext cx="4329603" cy="2202781"/>
          </a:xfrm>
          <a:prstGeom prst="rect">
            <a:avLst/>
          </a:prstGeom>
        </p:spPr>
      </p:pic>
      <p:pic>
        <p:nvPicPr>
          <p:cNvPr id="13" name="Picture 12">
            <a:extLst>
              <a:ext uri="{FF2B5EF4-FFF2-40B4-BE49-F238E27FC236}">
                <a16:creationId xmlns:a16="http://schemas.microsoft.com/office/drawing/2014/main" id="{66746833-87A4-0DFC-5E84-0AF0F2DD803E}"/>
              </a:ext>
            </a:extLst>
          </p:cNvPr>
          <p:cNvPicPr>
            <a:picLocks noChangeAspect="1"/>
          </p:cNvPicPr>
          <p:nvPr/>
        </p:nvPicPr>
        <p:blipFill>
          <a:blip r:embed="rId6"/>
          <a:stretch>
            <a:fillRect/>
          </a:stretch>
        </p:blipFill>
        <p:spPr>
          <a:xfrm>
            <a:off x="285265" y="3204819"/>
            <a:ext cx="4329603" cy="2043573"/>
          </a:xfrm>
          <a:prstGeom prst="rect">
            <a:avLst/>
          </a:prstGeom>
        </p:spPr>
      </p:pic>
      <p:sp>
        <p:nvSpPr>
          <p:cNvPr id="14" name="TextBox 13">
            <a:extLst>
              <a:ext uri="{FF2B5EF4-FFF2-40B4-BE49-F238E27FC236}">
                <a16:creationId xmlns:a16="http://schemas.microsoft.com/office/drawing/2014/main" id="{664FAB93-955E-3932-EF5F-0204D896A8E9}"/>
              </a:ext>
            </a:extLst>
          </p:cNvPr>
          <p:cNvSpPr txBox="1"/>
          <p:nvPr/>
        </p:nvSpPr>
        <p:spPr>
          <a:xfrm>
            <a:off x="421453" y="5332717"/>
            <a:ext cx="11563024" cy="1477328"/>
          </a:xfrm>
          <a:prstGeom prst="rect">
            <a:avLst/>
          </a:prstGeom>
          <a:noFill/>
        </p:spPr>
        <p:txBody>
          <a:bodyPr wrap="square" rtlCol="0">
            <a:spAutoFit/>
          </a:bodyPr>
          <a:lstStyle/>
          <a:p>
            <a:r>
              <a:rPr lang="en-GB" dirty="0"/>
              <a:t>Screenshots provided: Confusion Matrices of all models, Loss and Accuracy graphs of all models and the highest numbers achieved during training and validating</a:t>
            </a:r>
          </a:p>
          <a:p>
            <a:endParaRPr lang="en-GB" dirty="0"/>
          </a:p>
          <a:p>
            <a:r>
              <a:rPr lang="en-GB" dirty="0"/>
              <a:t>Basic CNN and ANN have very similar results around ~89% accuracy while improved ANN reaches ~90% and improved CNN reaching up to ~93% accuracy.</a:t>
            </a:r>
          </a:p>
        </p:txBody>
      </p:sp>
    </p:spTree>
    <p:extLst>
      <p:ext uri="{BB962C8B-B14F-4D97-AF65-F5344CB8AC3E}">
        <p14:creationId xmlns:p14="http://schemas.microsoft.com/office/powerpoint/2010/main" val="4002595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3A775-5E32-90C1-C674-87B9C233BC52}"/>
              </a:ext>
            </a:extLst>
          </p:cNvPr>
          <p:cNvSpPr>
            <a:spLocks noGrp="1"/>
          </p:cNvSpPr>
          <p:nvPr>
            <p:ph type="title"/>
          </p:nvPr>
        </p:nvSpPr>
        <p:spPr/>
        <p:txBody>
          <a:bodyPr/>
          <a:lstStyle/>
          <a:p>
            <a:r>
              <a:rPr lang="en-GB" dirty="0"/>
              <a:t>Tested methods and changes</a:t>
            </a:r>
          </a:p>
        </p:txBody>
      </p:sp>
      <p:sp>
        <p:nvSpPr>
          <p:cNvPr id="3" name="Content Placeholder 2">
            <a:extLst>
              <a:ext uri="{FF2B5EF4-FFF2-40B4-BE49-F238E27FC236}">
                <a16:creationId xmlns:a16="http://schemas.microsoft.com/office/drawing/2014/main" id="{A4050B43-295D-D896-F271-F79E6F46EE05}"/>
              </a:ext>
            </a:extLst>
          </p:cNvPr>
          <p:cNvSpPr>
            <a:spLocks noGrp="1"/>
          </p:cNvSpPr>
          <p:nvPr>
            <p:ph idx="1"/>
          </p:nvPr>
        </p:nvSpPr>
        <p:spPr>
          <a:xfrm>
            <a:off x="913795" y="1580050"/>
            <a:ext cx="10353762" cy="4882360"/>
          </a:xfrm>
        </p:spPr>
        <p:txBody>
          <a:bodyPr>
            <a:normAutofit fontScale="85000" lnSpcReduction="10000"/>
          </a:bodyPr>
          <a:lstStyle/>
          <a:p>
            <a:pPr marL="36900" indent="0">
              <a:buNone/>
            </a:pPr>
            <a:r>
              <a:rPr lang="en-GB" dirty="0"/>
              <a:t>Optimiser:</a:t>
            </a:r>
          </a:p>
          <a:p>
            <a:r>
              <a:rPr lang="en-GB" dirty="0"/>
              <a:t>Attempted to use different optimisers such as </a:t>
            </a:r>
            <a:r>
              <a:rPr lang="en-GB" dirty="0" err="1"/>
              <a:t>Adamax</a:t>
            </a:r>
            <a:r>
              <a:rPr lang="en-GB" dirty="0"/>
              <a:t> and SGD with momentum, resulting in the model having less accuracy overall so the changes were removed.</a:t>
            </a:r>
          </a:p>
          <a:p>
            <a:pPr marL="36900" indent="0">
              <a:buNone/>
            </a:pPr>
            <a:r>
              <a:rPr lang="en-GB" dirty="0"/>
              <a:t>Activation Functions:</a:t>
            </a:r>
          </a:p>
          <a:p>
            <a:r>
              <a:rPr lang="en-GB" dirty="0"/>
              <a:t>Even though </a:t>
            </a:r>
            <a:r>
              <a:rPr lang="en-GB" dirty="0" err="1"/>
              <a:t>LeakyReLU</a:t>
            </a:r>
            <a:r>
              <a:rPr lang="en-GB" dirty="0"/>
              <a:t> seemed better on paper, implementing it in the project only affected it negatively.</a:t>
            </a:r>
          </a:p>
          <a:p>
            <a:pPr marL="36900" indent="0">
              <a:buNone/>
            </a:pPr>
            <a:r>
              <a:rPr lang="en-GB" dirty="0"/>
              <a:t>Regularisation:</a:t>
            </a:r>
          </a:p>
          <a:p>
            <a:r>
              <a:rPr lang="en-GB" dirty="0"/>
              <a:t>Also failed to improve the accuracy of the model.</a:t>
            </a:r>
          </a:p>
          <a:p>
            <a:pPr marL="36900" indent="0">
              <a:buNone/>
            </a:pPr>
            <a:r>
              <a:rPr lang="en-GB" dirty="0"/>
              <a:t>Kernel Sizes, Filters and Hyper Parameters:</a:t>
            </a:r>
          </a:p>
          <a:p>
            <a:r>
              <a:rPr lang="en-GB" dirty="0"/>
              <a:t>Changing them made a huge positive impact on the models and their time for training.</a:t>
            </a:r>
          </a:p>
          <a:p>
            <a:pPr marL="36900" indent="0">
              <a:buNone/>
            </a:pPr>
            <a:r>
              <a:rPr lang="en-GB" dirty="0"/>
              <a:t>Batch Normalisation and Extra Layers:</a:t>
            </a:r>
          </a:p>
          <a:p>
            <a:r>
              <a:rPr lang="en-GB" dirty="0"/>
              <a:t>Batch normalization helps stabilize and speed up training by keeping layer activations well-scaled, improving gradient flow and overall model performance.</a:t>
            </a:r>
          </a:p>
          <a:p>
            <a:r>
              <a:rPr lang="en-GB" dirty="0"/>
              <a:t>Extra layers in the model’s structure allowed more overall parameters resulting in more complex and bigger neural networks, thus enabling them to be trained at a higher capacity. </a:t>
            </a:r>
          </a:p>
          <a:p>
            <a:pPr marL="36900" indent="0">
              <a:buNone/>
            </a:pPr>
            <a:endParaRPr lang="en-GB" dirty="0"/>
          </a:p>
          <a:p>
            <a:endParaRPr lang="en-GB" dirty="0"/>
          </a:p>
        </p:txBody>
      </p:sp>
    </p:spTree>
    <p:extLst>
      <p:ext uri="{BB962C8B-B14F-4D97-AF65-F5344CB8AC3E}">
        <p14:creationId xmlns:p14="http://schemas.microsoft.com/office/powerpoint/2010/main" val="3542722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9652D62-ECFB-408E-ABE6-155A644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1FEA985-924B-4044-8778-32D1E7164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lumMod val="75000"/>
              <a:lumOff val="25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0AB391-0245-9039-F696-26B71B94AD56}"/>
              </a:ext>
            </a:extLst>
          </p:cNvPr>
          <p:cNvSpPr>
            <a:spLocks noGrp="1"/>
          </p:cNvSpPr>
          <p:nvPr>
            <p:ph type="title"/>
          </p:nvPr>
        </p:nvSpPr>
        <p:spPr>
          <a:xfrm>
            <a:off x="913795" y="963506"/>
            <a:ext cx="3740815" cy="4827693"/>
          </a:xfrm>
        </p:spPr>
        <p:txBody>
          <a:bodyPr>
            <a:normAutofit/>
          </a:bodyPr>
          <a:lstStyle/>
          <a:p>
            <a:pPr algn="r"/>
            <a:r>
              <a:rPr lang="en-GB" dirty="0"/>
              <a:t>Why CNN outperforms ANN?</a:t>
            </a:r>
            <a:endParaRPr lang="en-GB"/>
          </a:p>
        </p:txBody>
      </p:sp>
      <p:cxnSp>
        <p:nvCxnSpPr>
          <p:cNvPr id="13" name="Straight Connector 12">
            <a:extLst>
              <a:ext uri="{FF2B5EF4-FFF2-40B4-BE49-F238E27FC236}">
                <a16:creationId xmlns:a16="http://schemas.microsoft.com/office/drawing/2014/main" id="{96C7F9CB-BCC3-4648-8DEF-07B0887D87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81187" y="2057399"/>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5AD0B37F-B423-B37D-C691-7D6A04644BD4}"/>
              </a:ext>
            </a:extLst>
          </p:cNvPr>
          <p:cNvSpPr>
            <a:spLocks noGrp="1" noChangeArrowheads="1"/>
          </p:cNvSpPr>
          <p:nvPr>
            <p:ph idx="1"/>
          </p:nvPr>
        </p:nvSpPr>
        <p:spPr bwMode="auto">
          <a:xfrm>
            <a:off x="5307765" y="963507"/>
            <a:ext cx="5959791" cy="4827694"/>
          </a:xfrm>
          <a:prstGeom prst="rect">
            <a:avLst/>
          </a:prstGeom>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results show that while both models performed well on the MNIST dataset, the CNN achieved higher accuracy and better generalization than the ANN. This is because CNNs can automatically learn spatial features and patterns from the images, whereas ANNs treat each pixel independently. However, the CNN required more computational resources and longer training time. Overall, this comparison highlights the trade-off between model complexity and performance in image classification tasks.</a:t>
            </a:r>
          </a:p>
        </p:txBody>
      </p:sp>
    </p:spTree>
    <p:extLst>
      <p:ext uri="{BB962C8B-B14F-4D97-AF65-F5344CB8AC3E}">
        <p14:creationId xmlns:p14="http://schemas.microsoft.com/office/powerpoint/2010/main" val="114417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06EB5-595E-1841-D72C-FDE70866899C}"/>
              </a:ext>
            </a:extLst>
          </p:cNvPr>
          <p:cNvSpPr>
            <a:spLocks noGrp="1"/>
          </p:cNvSpPr>
          <p:nvPr>
            <p:ph type="title"/>
          </p:nvPr>
        </p:nvSpPr>
        <p:spPr/>
        <p:txBody>
          <a:bodyPr/>
          <a:lstStyle/>
          <a:p>
            <a:r>
              <a:rPr lang="en-GB" dirty="0"/>
              <a:t>GAN model implementation</a:t>
            </a:r>
          </a:p>
        </p:txBody>
      </p:sp>
      <p:sp>
        <p:nvSpPr>
          <p:cNvPr id="3" name="Content Placeholder 2">
            <a:extLst>
              <a:ext uri="{FF2B5EF4-FFF2-40B4-BE49-F238E27FC236}">
                <a16:creationId xmlns:a16="http://schemas.microsoft.com/office/drawing/2014/main" id="{108A3950-AF51-4A38-A7D6-F8DFA3248380}"/>
              </a:ext>
            </a:extLst>
          </p:cNvPr>
          <p:cNvSpPr>
            <a:spLocks noGrp="1"/>
          </p:cNvSpPr>
          <p:nvPr>
            <p:ph idx="1"/>
          </p:nvPr>
        </p:nvSpPr>
        <p:spPr/>
        <p:txBody>
          <a:bodyPr/>
          <a:lstStyle/>
          <a:p>
            <a:pPr marL="36900" indent="0">
              <a:buNone/>
            </a:pPr>
            <a:r>
              <a:rPr lang="en-GB" dirty="0"/>
              <a:t>Implemented a GAN model to generate images based on the MNIST-Fashion dataset. Unfortunately, the model is very slow compared to the other models in the project so a live presentation will not be possible.</a:t>
            </a:r>
          </a:p>
          <a:p>
            <a:pPr marL="36900" indent="0">
              <a:buNone/>
            </a:pPr>
            <a:endParaRPr lang="en-GB" dirty="0"/>
          </a:p>
          <a:p>
            <a:pPr marL="36900" indent="0">
              <a:buNone/>
            </a:pPr>
            <a:endParaRPr lang="en-GB" dirty="0"/>
          </a:p>
        </p:txBody>
      </p:sp>
      <p:pic>
        <p:nvPicPr>
          <p:cNvPr id="5" name="Picture 4">
            <a:extLst>
              <a:ext uri="{FF2B5EF4-FFF2-40B4-BE49-F238E27FC236}">
                <a16:creationId xmlns:a16="http://schemas.microsoft.com/office/drawing/2014/main" id="{945E23CD-BDE9-A91E-7A92-25A78F6B92AC}"/>
              </a:ext>
            </a:extLst>
          </p:cNvPr>
          <p:cNvPicPr>
            <a:picLocks noChangeAspect="1"/>
          </p:cNvPicPr>
          <p:nvPr/>
        </p:nvPicPr>
        <p:blipFill>
          <a:blip r:embed="rId2"/>
          <a:stretch>
            <a:fillRect/>
          </a:stretch>
        </p:blipFill>
        <p:spPr>
          <a:xfrm>
            <a:off x="581798" y="2945234"/>
            <a:ext cx="3296110" cy="3534268"/>
          </a:xfrm>
          <a:prstGeom prst="rect">
            <a:avLst/>
          </a:prstGeom>
        </p:spPr>
      </p:pic>
      <p:pic>
        <p:nvPicPr>
          <p:cNvPr id="7" name="Picture 6">
            <a:extLst>
              <a:ext uri="{FF2B5EF4-FFF2-40B4-BE49-F238E27FC236}">
                <a16:creationId xmlns:a16="http://schemas.microsoft.com/office/drawing/2014/main" id="{4904C0AB-7A9A-183C-86AA-59096AE7D564}"/>
              </a:ext>
            </a:extLst>
          </p:cNvPr>
          <p:cNvPicPr>
            <a:picLocks noChangeAspect="1"/>
          </p:cNvPicPr>
          <p:nvPr/>
        </p:nvPicPr>
        <p:blipFill>
          <a:blip r:embed="rId3"/>
          <a:stretch>
            <a:fillRect/>
          </a:stretch>
        </p:blipFill>
        <p:spPr>
          <a:xfrm>
            <a:off x="4428331" y="2945234"/>
            <a:ext cx="3277057" cy="3524742"/>
          </a:xfrm>
          <a:prstGeom prst="rect">
            <a:avLst/>
          </a:prstGeom>
        </p:spPr>
      </p:pic>
      <p:pic>
        <p:nvPicPr>
          <p:cNvPr id="9" name="Picture 8">
            <a:extLst>
              <a:ext uri="{FF2B5EF4-FFF2-40B4-BE49-F238E27FC236}">
                <a16:creationId xmlns:a16="http://schemas.microsoft.com/office/drawing/2014/main" id="{3B4ECFCE-F5BD-9074-9134-471290BCB8B2}"/>
              </a:ext>
            </a:extLst>
          </p:cNvPr>
          <p:cNvPicPr>
            <a:picLocks noChangeAspect="1"/>
          </p:cNvPicPr>
          <p:nvPr/>
        </p:nvPicPr>
        <p:blipFill>
          <a:blip r:embed="rId4"/>
          <a:stretch>
            <a:fillRect/>
          </a:stretch>
        </p:blipFill>
        <p:spPr>
          <a:xfrm>
            <a:off x="8255812" y="2945234"/>
            <a:ext cx="3343742" cy="3534268"/>
          </a:xfrm>
          <a:prstGeom prst="rect">
            <a:avLst/>
          </a:prstGeom>
        </p:spPr>
      </p:pic>
    </p:spTree>
    <p:extLst>
      <p:ext uri="{BB962C8B-B14F-4D97-AF65-F5344CB8AC3E}">
        <p14:creationId xmlns:p14="http://schemas.microsoft.com/office/powerpoint/2010/main" val="2850638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77216-42E4-BC5D-154C-DF99DFDAB4A3}"/>
              </a:ext>
            </a:extLst>
          </p:cNvPr>
          <p:cNvSpPr>
            <a:spLocks noGrp="1"/>
          </p:cNvSpPr>
          <p:nvPr>
            <p:ph type="title"/>
          </p:nvPr>
        </p:nvSpPr>
        <p:spPr>
          <a:xfrm>
            <a:off x="861791" y="2523067"/>
            <a:ext cx="3382832" cy="1811865"/>
          </a:xfrm>
        </p:spPr>
        <p:txBody>
          <a:bodyPr vert="horz" lIns="91440" tIns="45720" rIns="91440" bIns="45720" rtlCol="0" anchor="b">
            <a:normAutofit/>
          </a:bodyPr>
          <a:lstStyle/>
          <a:p>
            <a:pPr algn="l"/>
            <a:r>
              <a:rPr lang="en-US" sz="4200" dirty="0"/>
              <a:t>Questions</a:t>
            </a:r>
          </a:p>
        </p:txBody>
      </p:sp>
      <p:sp>
        <p:nvSpPr>
          <p:cNvPr id="3" name="Content Placeholder 2">
            <a:extLst>
              <a:ext uri="{FF2B5EF4-FFF2-40B4-BE49-F238E27FC236}">
                <a16:creationId xmlns:a16="http://schemas.microsoft.com/office/drawing/2014/main" id="{3FD8B55E-E1CC-D8A1-8907-6875CB804899}"/>
              </a:ext>
            </a:extLst>
          </p:cNvPr>
          <p:cNvSpPr>
            <a:spLocks noGrp="1"/>
          </p:cNvSpPr>
          <p:nvPr>
            <p:ph idx="1"/>
          </p:nvPr>
        </p:nvSpPr>
        <p:spPr>
          <a:xfrm>
            <a:off x="861789" y="4334933"/>
            <a:ext cx="3382831" cy="1185333"/>
          </a:xfrm>
        </p:spPr>
        <p:txBody>
          <a:bodyPr vert="horz" lIns="91440" tIns="45720" rIns="91440" bIns="45720" rtlCol="0" anchor="t">
            <a:normAutofit/>
          </a:bodyPr>
          <a:lstStyle/>
          <a:p>
            <a:pPr marL="0" indent="0">
              <a:lnSpc>
                <a:spcPct val="90000"/>
              </a:lnSpc>
              <a:buNone/>
            </a:pPr>
            <a:r>
              <a:rPr lang="en-US" sz="1900">
                <a:solidFill>
                  <a:srgbClr val="F7B647"/>
                </a:solidFill>
              </a:rPr>
              <a:t>Thank you for listening to my presentation. I’d be happy to answer any questions you may have.</a:t>
            </a:r>
          </a:p>
        </p:txBody>
      </p:sp>
      <p:pic>
        <p:nvPicPr>
          <p:cNvPr id="9" name="Picture 8">
            <a:extLst>
              <a:ext uri="{FF2B5EF4-FFF2-40B4-BE49-F238E27FC236}">
                <a16:creationId xmlns:a16="http://schemas.microsoft.com/office/drawing/2014/main" id="{08187575-5CB4-477B-AA47-020C6D2A786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4552950" y="1"/>
            <a:ext cx="7639050" cy="6858000"/>
          </a:xfrm>
          <a:prstGeom prst="rect">
            <a:avLst/>
          </a:prstGeom>
        </p:spPr>
      </p:pic>
      <p:pic>
        <p:nvPicPr>
          <p:cNvPr id="11" name="Picture 10">
            <a:extLst>
              <a:ext uri="{FF2B5EF4-FFF2-40B4-BE49-F238E27FC236}">
                <a16:creationId xmlns:a16="http://schemas.microsoft.com/office/drawing/2014/main" id="{EE585F70-7C5D-424E-A182-39507AF48A0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501468" y="1"/>
            <a:ext cx="4690532" cy="6858000"/>
          </a:xfrm>
          <a:prstGeom prst="rect">
            <a:avLst/>
          </a:prstGeom>
        </p:spPr>
      </p:pic>
      <p:pic>
        <p:nvPicPr>
          <p:cNvPr id="5" name="Picture 4" descr="Different colored question marks">
            <a:extLst>
              <a:ext uri="{FF2B5EF4-FFF2-40B4-BE49-F238E27FC236}">
                <a16:creationId xmlns:a16="http://schemas.microsoft.com/office/drawing/2014/main" id="{CFF8674B-A7E4-084F-E39B-6349A9D50271}"/>
              </a:ext>
            </a:extLst>
          </p:cNvPr>
          <p:cNvPicPr>
            <a:picLocks noChangeAspect="1"/>
          </p:cNvPicPr>
          <p:nvPr/>
        </p:nvPicPr>
        <p:blipFill>
          <a:blip r:embed="rId4"/>
          <a:srcRect l="17395" r="20780"/>
          <a:stretch>
            <a:fillRect/>
          </a:stretch>
        </p:blipFill>
        <p:spPr>
          <a:xfrm>
            <a:off x="4654297" y="10"/>
            <a:ext cx="7537704" cy="6857990"/>
          </a:xfrm>
          <a:prstGeom prst="rect">
            <a:avLst/>
          </a:prstGeom>
        </p:spPr>
      </p:pic>
    </p:spTree>
    <p:extLst>
      <p:ext uri="{BB962C8B-B14F-4D97-AF65-F5344CB8AC3E}">
        <p14:creationId xmlns:p14="http://schemas.microsoft.com/office/powerpoint/2010/main" val="2040819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105</TotalTime>
  <Words>604</Words>
  <Application>Microsoft Office PowerPoint</Application>
  <PresentationFormat>Widescreen</PresentationFormat>
  <Paragraphs>44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Calisto MT</vt:lpstr>
      <vt:lpstr>Wingdings 2</vt:lpstr>
      <vt:lpstr>Slate</vt:lpstr>
      <vt:lpstr>Neural Systems</vt:lpstr>
      <vt:lpstr>Main Goals of the project</vt:lpstr>
      <vt:lpstr> Dataset Handling</vt:lpstr>
      <vt:lpstr>Artificial Neural Network (ANN)</vt:lpstr>
      <vt:lpstr>Convolutionary Neural Network (CNN)</vt:lpstr>
      <vt:lpstr>Results</vt:lpstr>
      <vt:lpstr>Tested methods and changes</vt:lpstr>
      <vt:lpstr>Why CNN outperforms ANN?</vt:lpstr>
      <vt:lpstr>GAN model implementation</vt:lpstr>
      <vt:lpstr>Questions</vt:lpstr>
    </vt:vector>
  </TitlesOfParts>
  <Company>De Montfort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Periklis Lazarides</dc:creator>
  <cp:lastModifiedBy>Periklis Lazarides</cp:lastModifiedBy>
  <cp:revision>15</cp:revision>
  <dcterms:created xsi:type="dcterms:W3CDTF">2025-11-04T19:06:37Z</dcterms:created>
  <dcterms:modified xsi:type="dcterms:W3CDTF">2025-11-04T20:51:53Z</dcterms:modified>
</cp:coreProperties>
</file>